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661" r:id="rId5"/>
  </p:sldMasterIdLst>
  <p:notesMasterIdLst>
    <p:notesMasterId r:id="rId14"/>
  </p:notesMasterIdLst>
  <p:handoutMasterIdLst>
    <p:handoutMasterId r:id="rId15"/>
  </p:handoutMasterIdLst>
  <p:sldIdLst>
    <p:sldId id="256" r:id="rId6"/>
    <p:sldId id="281" r:id="rId7"/>
    <p:sldId id="292" r:id="rId8"/>
    <p:sldId id="282" r:id="rId9"/>
    <p:sldId id="283" r:id="rId10"/>
    <p:sldId id="284" r:id="rId11"/>
    <p:sldId id="285" r:id="rId12"/>
    <p:sldId id="291" r:id="rId13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71" autoAdjust="0"/>
    <p:restoredTop sz="94660"/>
  </p:normalViewPr>
  <p:slideViewPr>
    <p:cSldViewPr snapToGrid="0">
      <p:cViewPr varScale="1">
        <p:scale>
          <a:sx n="169" d="100"/>
          <a:sy n="169" d="100"/>
        </p:scale>
        <p:origin x="3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280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9422830-C8D1-4D1C-AE5C-AA2D2E64D1C3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2025/5/2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CCCEA71-DC42-43D1-8340-DB07629004C9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B725628-3A68-42F4-BA86-981817953149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椭圆形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fld id="{CFDCE838-61FF-4427-8D5E-B539F46A3E2E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8" name="直接连接符​​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DF37EDC-76D2-4347-9B2E-FDFCA3EE6FFD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椭圆形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98D43E-598C-470D-A0B0-0CC259052850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8" name="直接连接符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F3AB81A-738D-4D93-B356-2E61115064D5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6B9EECF-3901-48EF-97E4-996676A9B35D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BE058F-D340-43DA-A96B-105C64DCFDB9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8CBA0CD-516B-402D-98B7-7C2E92C48ECD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C24FBB4-ED5D-45D4-B793-03DC4D31C84D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9CFE0BF-9F8B-43D7-ABDE-1F2A229BF7D3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8" name="直接连接符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FECC429-F404-46B9-831C-5739463A7C5F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A46D3E3-3D6A-4243-B027-BC771AD4E1BC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cxnSp>
        <p:nvCxnSpPr>
          <p:cNvPr id="7" name="直接连接符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E4ACB-04F0-955B-CBF7-0BA4AFF8F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95B577-F866-399B-3646-8148E84AC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3779A-D3E1-1CFB-2457-86C30E23C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86BA1-151D-4C86-0814-688867A8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D60070-E617-0A8B-70B0-D3302BD1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0949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3E264-121B-B3D2-834D-5CE50AD7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EBA9D5-5637-390D-08C8-0B1129FCC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C42085-9F17-6678-CC2F-071B0CFF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6838A-690A-C8CC-D3BE-9A60A59A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37292-D8D5-B467-7763-8F3D4EFD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3291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28DE4-38F2-F745-B641-16134864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B82DA2-E098-1E39-C235-D6A186070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04E9C1-79D2-370E-5CB7-03DE5E81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FCE69-464E-27E8-E6BB-540650A2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C2CB4C-774A-F12B-6874-6A1633F3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4471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080A2-0B8A-7F7A-1372-D59CB93B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8EDCE3-F0E4-CE47-E943-FC8630786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5F3712-8992-A910-0F72-79FDB1D1C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2865E9-2040-5FC2-9E77-2F786CC0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86DEE2-699C-7311-A1A4-8FD9E2CB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F2088C-A067-EB51-7B2C-EEED3F0B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9082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99422-A363-1E93-2A21-AF5572418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48F68-1B61-6E56-AEA4-DFAE7D5AE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2D6D0C-0078-5AC4-567B-456A19A23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C7F306-36BE-3CA8-5197-2AB0CDBC3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13F6E1-5463-7F9B-9E2A-42743AE43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4BEEE1-DF1A-BE3D-884D-7DC97103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31637F-E1CE-0E22-719A-2ADBBECD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4647F5-9CBD-0A1E-55F1-D3B9629EB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9890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BF75F-A61B-3C65-FE02-61E060A3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5B5E4A-39DC-5B9E-97EC-6A5D03E1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3D66F7-39B2-A940-17E5-178E6691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63593F-C82F-785E-EA3D-80EAC5DF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5724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7FD201-3EBF-0DD8-D3A6-600FA200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BE97F7-EC08-5601-F0CF-0E1C6B8E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62F17-7D4B-7250-8610-BBDCA67D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746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0F80-410B-09A6-B9D5-40208BBB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C12C8D-2359-0A7B-1189-D20EB0A26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399FD5-2049-9481-84CD-EC1FEB56A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4EF50-8472-C2F4-2D37-C47A1AC9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DA4E1A-A787-CB2D-1754-CA1423F2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1C6F4C-8567-5CA1-1535-A2D70D88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4098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7173E-BF73-9E63-606A-F4168767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934E0C-A515-94C2-65B5-24FE7E364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C7DEFD-5B6A-4EB5-8AC4-F9FF92DE1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8974E-7657-D4D7-7C55-1265F33F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971DEA-B04D-EB2F-939A-8FFC1997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EAA826-FD1B-FB49-1F74-232B0AC8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8105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72763-96D0-84FE-4A4D-7264CFB92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224D14-14AE-0E73-3D2A-21D640422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670CFC-261B-FD42-FC4C-ADB58613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4E3F98-40C4-ABB7-ABA7-DB204FC2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26E712-EC78-315B-46A6-4D2DC963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6978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1DCF34-10F8-162E-5EC2-36377CDC8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2F7BC2-124E-26D6-C563-E07287FEF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E4D86D-2AED-03A8-20E9-7C90F4266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3D1D86-2B1B-A027-657D-2037526E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81417-50A2-3949-911E-3E539CD3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841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55828" y="473264"/>
            <a:ext cx="6532359" cy="469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9E7AE09-8028-4979-91B9-67A4CC4592AA}" type="datetime1">
              <a:rPr lang="zh-CN" altLang="en-US" smtClean="0"/>
              <a:pPr/>
              <a:t>2025/5/2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FAB73BC-B049-4115-A692-8D63A059BFB8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 flipV="1">
            <a:off x="406400" y="330200"/>
            <a:ext cx="0" cy="609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D6BBE7-04A6-E963-3CB5-A44BACE7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00B072-4B27-A183-DB92-E3117162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5B941-CA15-8140-7AFC-66972C612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97533-885A-3A4C-A171-9EE6FA22F254}" type="datetimeFigureOut">
              <a:rPr kumimoji="1" lang="zh-CN" altLang="en-US" smtClean="0"/>
              <a:t>2025/5/2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1E948-F35D-EE7F-691A-659683F0C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AFF3CD-FC92-916D-1E47-CE82680C2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94936-8155-B84D-AF91-57666BF7F3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381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长方形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21" name="长方形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3567" y="3263820"/>
            <a:ext cx="7501651" cy="1090938"/>
          </a:xfrm>
        </p:spPr>
        <p:txBody>
          <a:bodyPr rtlCol="0" anchor="b">
            <a:no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</a:rPr>
              <a:t>Fine-Grained Bird Species Classification with CNNs &amp; Transformers</a:t>
            </a:r>
            <a:endParaRPr lang="en-US" altLang="zh-CN" sz="20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pPr algn="ctr" rtl="0"/>
            <a:r>
              <a:rPr lang="en-US" altLang="zh-CN" sz="16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Team : </a:t>
            </a:r>
            <a:r>
              <a:rPr lang="en-US" altLang="zh-CN" sz="1600" dirty="0" err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Shiheng</a:t>
            </a:r>
            <a:r>
              <a:rPr lang="en-US" altLang="zh-CN" sz="16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Xu, Renjie Fan, </a:t>
            </a:r>
            <a:r>
              <a:rPr lang="en-US" altLang="zh-CN" sz="1600" dirty="0" err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Kunshu</a:t>
            </a:r>
            <a:r>
              <a:rPr lang="en-US" altLang="zh-CN" sz="16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Yang      Date : 05/01/2025</a:t>
            </a:r>
            <a:endParaRPr lang="zh-CN" altLang="en-US" sz="16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3" name="直接连接符​​(S)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3DE587-06BD-50B0-0FA0-4D45F5D1AA00}"/>
              </a:ext>
            </a:extLst>
          </p:cNvPr>
          <p:cNvSpPr txBox="1"/>
          <p:nvPr/>
        </p:nvSpPr>
        <p:spPr>
          <a:xfrm>
            <a:off x="533400" y="3175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399B6F-9F22-940C-FB9E-36B98BB5422F}"/>
              </a:ext>
            </a:extLst>
          </p:cNvPr>
          <p:cNvSpPr txBox="1"/>
          <p:nvPr/>
        </p:nvSpPr>
        <p:spPr>
          <a:xfrm>
            <a:off x="533400" y="1135529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Motivation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2F7B42-7862-0B65-AD81-6A4BB1EF0B1E}"/>
              </a:ext>
            </a:extLst>
          </p:cNvPr>
          <p:cNvSpPr txBox="1"/>
          <p:nvPr/>
        </p:nvSpPr>
        <p:spPr>
          <a:xfrm>
            <a:off x="893378" y="1621698"/>
            <a:ext cx="10426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ecological monitoring and biodiversity studies, accurately identifying hundreds of visually similar bird species is crucial. While conventional vision models excel at broad categories, they often struggle with fine-grained distinctions—such as subtle plumage patterns or slight differences in beak shape. To address this challenge, we use the CUB-200-2011 dataset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our benchmark to improve both classification accuracy and model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1309357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7B20-68C3-26D6-5956-4E6C4485A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A7C972-7B03-9050-7BFE-6DD042D632C0}"/>
              </a:ext>
            </a:extLst>
          </p:cNvPr>
          <p:cNvSpPr txBox="1"/>
          <p:nvPr/>
        </p:nvSpPr>
        <p:spPr>
          <a:xfrm>
            <a:off x="533400" y="3175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Related Work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056C98-03E0-C395-DCCA-19FE35F6C3EA}"/>
              </a:ext>
            </a:extLst>
          </p:cNvPr>
          <p:cNvSpPr txBox="1"/>
          <p:nvPr/>
        </p:nvSpPr>
        <p:spPr>
          <a:xfrm>
            <a:off x="5356686" y="1225859"/>
            <a:ext cx="173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BBE6D9-E950-2C14-9355-98ADBBC468CD}"/>
              </a:ext>
            </a:extLst>
          </p:cNvPr>
          <p:cNvSpPr txBox="1"/>
          <p:nvPr/>
        </p:nvSpPr>
        <p:spPr>
          <a:xfrm>
            <a:off x="5270016" y="1906227"/>
            <a:ext cx="84696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Visual Classification (FGVC)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Part-based and bilinear models to focus on discriminative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Swin)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long-range dependencies via self-attention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computational cost than CNNs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CNN efficiency with Transformer interpretability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end-to-end pipeline for bird species classification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C87DE5-7C3C-0408-9228-DBE9F38B2454}"/>
              </a:ext>
            </a:extLst>
          </p:cNvPr>
          <p:cNvSpPr txBox="1"/>
          <p:nvPr/>
        </p:nvSpPr>
        <p:spPr>
          <a:xfrm>
            <a:off x="533400" y="1225859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BE837-1CFD-9A10-2C8B-944292F22992}"/>
              </a:ext>
            </a:extLst>
          </p:cNvPr>
          <p:cNvSpPr txBox="1"/>
          <p:nvPr/>
        </p:nvSpPr>
        <p:spPr>
          <a:xfrm>
            <a:off x="134156" y="1750709"/>
            <a:ext cx="53801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CUB-200-2011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bird species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5,994 training images, 5,794 testing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part annotations (beak, wings, tail)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90 % for training, 10 % for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RandomResizedCrop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224×224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RandomHorizontalFlip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ColorJitter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(brightness, contrast, saturation, hue)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RandomErasing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(occlusion robustness)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 descr="图形用户界面, 网站&#10;&#10;AI 生成的内容可能不正确。">
            <a:extLst>
              <a:ext uri="{FF2B5EF4-FFF2-40B4-BE49-F238E27FC236}">
                <a16:creationId xmlns:a16="http://schemas.microsoft.com/office/drawing/2014/main" id="{FA7823FA-023F-7408-B5D9-75A7361AC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472" y="4454450"/>
            <a:ext cx="6518831" cy="214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5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AA5B-B2D8-E2CD-8717-6D72505C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1E4D8FC-1B52-BED7-1E1D-C5F6450BBB75}"/>
              </a:ext>
            </a:extLst>
          </p:cNvPr>
          <p:cNvSpPr txBox="1"/>
          <p:nvPr/>
        </p:nvSpPr>
        <p:spPr>
          <a:xfrm>
            <a:off x="533399" y="318532"/>
            <a:ext cx="11658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285148-8046-FC8B-A729-FDC2C619B68C}"/>
              </a:ext>
            </a:extLst>
          </p:cNvPr>
          <p:cNvSpPr txBox="1"/>
          <p:nvPr/>
        </p:nvSpPr>
        <p:spPr>
          <a:xfrm>
            <a:off x="439837" y="1276803"/>
            <a:ext cx="81731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Backbone &amp; Architecture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Pretrained ResNet-50 (ImageNet)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 final FC with 200-way classifier</a:t>
            </a:r>
          </a:p>
          <a:p>
            <a:pPr>
              <a:buNone/>
            </a:pPr>
            <a:r>
              <a:rPr lang="en-US" b="1" dirty="0"/>
              <a:t>Phased Fine-Tuning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Epoch 1</a:t>
            </a:r>
            <a:r>
              <a:rPr lang="en-US" dirty="0"/>
              <a:t>: freeze all conv layers → train only new FC head at </a:t>
            </a:r>
            <a:r>
              <a:rPr lang="en-US" dirty="0" err="1"/>
              <a:t>lr</a:t>
            </a:r>
            <a:r>
              <a:rPr lang="en-US" dirty="0"/>
              <a:t> = 1 × 10⁻³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Epoch 5→30</a:t>
            </a:r>
            <a:r>
              <a:rPr lang="en-US" dirty="0"/>
              <a:t>: unfreeze entire network → fine-tune at </a:t>
            </a:r>
            <a:r>
              <a:rPr lang="en-US" dirty="0" err="1"/>
              <a:t>lr</a:t>
            </a:r>
            <a:r>
              <a:rPr lang="en-US" dirty="0"/>
              <a:t> = 3 × 10⁻⁴</a:t>
            </a:r>
          </a:p>
          <a:p>
            <a:pPr>
              <a:buNone/>
            </a:pPr>
            <a:r>
              <a:rPr lang="en-US" b="1" dirty="0"/>
              <a:t>Data Pipeline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Dataset</a:t>
            </a:r>
            <a:r>
              <a:rPr lang="en-US" dirty="0"/>
              <a:t>: CUB-200-2011 (≈6 K train, 5.8 K test)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Transforms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RandomResizedCrop</a:t>
            </a:r>
            <a:r>
              <a:rPr lang="en-US" dirty="0"/>
              <a:t>(224, 0.8–1.0)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RandomHorizontalFlip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ColorJitter</a:t>
            </a:r>
            <a:r>
              <a:rPr lang="en-US" dirty="0"/>
              <a:t>(0.2,0.2,0.2,0.1)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RandomErasing</a:t>
            </a:r>
            <a:r>
              <a:rPr lang="en-US" dirty="0"/>
              <a:t>(p = 0.3)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Normalize(ImageNet mean/std)</a:t>
            </a:r>
          </a:p>
        </p:txBody>
      </p:sp>
    </p:spTree>
    <p:extLst>
      <p:ext uri="{BB962C8B-B14F-4D97-AF65-F5344CB8AC3E}">
        <p14:creationId xmlns:p14="http://schemas.microsoft.com/office/powerpoint/2010/main" val="3808911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F9EBF-8B3B-2856-6593-E0BAC98BD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3B28706-1337-0DDE-CFBB-53F283021D5A}"/>
              </a:ext>
            </a:extLst>
          </p:cNvPr>
          <p:cNvSpPr txBox="1"/>
          <p:nvPr/>
        </p:nvSpPr>
        <p:spPr>
          <a:xfrm>
            <a:off x="533399" y="318532"/>
            <a:ext cx="11658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EF613C-3093-E89C-A3CD-7809E11F91A3}"/>
              </a:ext>
            </a:extLst>
          </p:cNvPr>
          <p:cNvSpPr txBox="1"/>
          <p:nvPr/>
        </p:nvSpPr>
        <p:spPr>
          <a:xfrm>
            <a:off x="1051849" y="1199979"/>
            <a:ext cx="60969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Loss &amp; Regularization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Cross-entropy with label smoothing </a:t>
            </a:r>
            <a:r>
              <a:rPr lang="el-GR" dirty="0"/>
              <a:t>ε = 0.1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Gradient clipping (‖grad‖₂ ≤ 5.0)</a:t>
            </a:r>
          </a:p>
          <a:p>
            <a:pPr>
              <a:buNone/>
            </a:pPr>
            <a:r>
              <a:rPr lang="en-US" b="1" dirty="0"/>
              <a:t>Optimizer &amp; Scheduler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AdamW</a:t>
            </a:r>
            <a:r>
              <a:rPr lang="en-US" dirty="0"/>
              <a:t> (</a:t>
            </a:r>
            <a:r>
              <a:rPr lang="en-US" dirty="0" err="1"/>
              <a:t>lr</a:t>
            </a:r>
            <a:r>
              <a:rPr lang="en-US" dirty="0"/>
              <a:t> = 3 × 10⁻⁴, wd = 1 × 10⁻⁴)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OneCycleLR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max_lr</a:t>
            </a:r>
            <a:r>
              <a:rPr lang="en-US" dirty="0"/>
              <a:t> = 3 × 10⁻⁴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warm-up = 10 % of total iterations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cosine annealing over 30 epochs</a:t>
            </a:r>
          </a:p>
          <a:p>
            <a:pPr>
              <a:buNone/>
            </a:pPr>
            <a:r>
              <a:rPr lang="en-US" b="1" dirty="0"/>
              <a:t>Training Details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Batch size = 64, </a:t>
            </a:r>
            <a:r>
              <a:rPr lang="en-US" dirty="0" err="1"/>
              <a:t>num_workers</a:t>
            </a:r>
            <a:r>
              <a:rPr lang="en-US" dirty="0"/>
              <a:t> = 2, </a:t>
            </a:r>
            <a:r>
              <a:rPr lang="en-US" dirty="0" err="1"/>
              <a:t>pin_memory</a:t>
            </a:r>
            <a:r>
              <a:rPr lang="en-US" dirty="0"/>
              <a:t> =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save of best test accuracy (77.46 %)</a:t>
            </a:r>
          </a:p>
        </p:txBody>
      </p:sp>
    </p:spTree>
    <p:extLst>
      <p:ext uri="{BB962C8B-B14F-4D97-AF65-F5344CB8AC3E}">
        <p14:creationId xmlns:p14="http://schemas.microsoft.com/office/powerpoint/2010/main" val="334608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3FD1-ACB7-C6D9-8C3C-E66C7102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CD73D7D-9563-B36D-82F7-1CB5DB655EDC}"/>
              </a:ext>
            </a:extLst>
          </p:cNvPr>
          <p:cNvSpPr txBox="1"/>
          <p:nvPr/>
        </p:nvSpPr>
        <p:spPr>
          <a:xfrm>
            <a:off x="533399" y="318532"/>
            <a:ext cx="11658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90CF5E-1B31-8F2B-D805-F561A3F4D072}"/>
              </a:ext>
            </a:extLst>
          </p:cNvPr>
          <p:cNvSpPr txBox="1"/>
          <p:nvPr/>
        </p:nvSpPr>
        <p:spPr>
          <a:xfrm>
            <a:off x="1631384" y="4267738"/>
            <a:ext cx="97403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&amp; Enhancements: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baseline achieves 72.6% Top-1; applying </a:t>
            </a:r>
            <a:r>
              <a:rPr lang="en-GB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MixUp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raises this to 78.4%, and adding CBAM further boosts it to 79.2%.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OneCycleLR</a:t>
            </a:r>
            <a:r>
              <a:rPr lang="en-GB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Scheduling: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ramps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10% of epochs, then follows a cosine decay to near zero—enabling fast initial convergence and precise fine-tuning.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 &amp; Generalization: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 climbs to ~77.5% by epoch 20 and remains stable thereafter, demonstrating solid convergence and strong generalization.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Control: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losses descend smoothly with a small gap, confirming that our aggressive augmentations and label smoothing effectively suppress overfitting.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8E120210-F5E2-DBE6-9BF8-EF11F850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11" y="1058911"/>
            <a:ext cx="10831114" cy="306270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D193653-7E8E-526F-54D1-CA95F5285BA7}"/>
              </a:ext>
            </a:extLst>
          </p:cNvPr>
          <p:cNvSpPr txBox="1"/>
          <p:nvPr/>
        </p:nvSpPr>
        <p:spPr>
          <a:xfrm>
            <a:off x="399393" y="17131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9284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85BC4-CBAA-DCCE-2080-D0C9C71D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E38D2A9-CE99-AC4F-2EB5-27C4FC757E50}"/>
              </a:ext>
            </a:extLst>
          </p:cNvPr>
          <p:cNvSpPr txBox="1"/>
          <p:nvPr/>
        </p:nvSpPr>
        <p:spPr>
          <a:xfrm>
            <a:off x="533399" y="318532"/>
            <a:ext cx="11658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Next Steps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3988EC-FF07-A1D7-9904-5C74999F4FFD}"/>
              </a:ext>
            </a:extLst>
          </p:cNvPr>
          <p:cNvSpPr txBox="1"/>
          <p:nvPr/>
        </p:nvSpPr>
        <p:spPr>
          <a:xfrm>
            <a:off x="932329" y="2225605"/>
            <a:ext cx="8132354" cy="87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 augmentations and adaptive schedulers boost CNN baseline by ~7 percent.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modules deliver interpretable, fine-grained focus on biological parts.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3237AF-6ED8-3E7F-5E12-9AD27B543437}"/>
              </a:ext>
            </a:extLst>
          </p:cNvPr>
          <p:cNvSpPr txBox="1"/>
          <p:nvPr/>
        </p:nvSpPr>
        <p:spPr>
          <a:xfrm>
            <a:off x="539296" y="1744016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B8F156-40DE-879D-FBA7-21CEF73B7A57}"/>
              </a:ext>
            </a:extLst>
          </p:cNvPr>
          <p:cNvSpPr txBox="1"/>
          <p:nvPr/>
        </p:nvSpPr>
        <p:spPr>
          <a:xfrm>
            <a:off x="533399" y="3211371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48C69C-C96D-1338-B5F5-A965EFA05028}"/>
              </a:ext>
            </a:extLst>
          </p:cNvPr>
          <p:cNvSpPr txBox="1"/>
          <p:nvPr/>
        </p:nvSpPr>
        <p:spPr>
          <a:xfrm>
            <a:off x="890337" y="3692960"/>
            <a:ext cx="9273436" cy="1289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-Transformer with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SupCon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part-aware attention on the full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semi-supervised learning with unlabeled bird images to enrich feature diversity.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model distillation for efficient edge-device deployment.</a:t>
            </a:r>
          </a:p>
        </p:txBody>
      </p:sp>
    </p:spTree>
    <p:extLst>
      <p:ext uri="{BB962C8B-B14F-4D97-AF65-F5344CB8AC3E}">
        <p14:creationId xmlns:p14="http://schemas.microsoft.com/office/powerpoint/2010/main" val="3514175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408638-5079-393B-846B-531898E51232}"/>
              </a:ext>
            </a:extLst>
          </p:cNvPr>
          <p:cNvSpPr txBox="1"/>
          <p:nvPr/>
        </p:nvSpPr>
        <p:spPr>
          <a:xfrm>
            <a:off x="1494971" y="1654629"/>
            <a:ext cx="99758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LISTENING!</a:t>
            </a:r>
            <a:endParaRPr kumimoji="1" lang="zh-CN" altLang="en-US" sz="6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已生成图片">
            <a:extLst>
              <a:ext uri="{FF2B5EF4-FFF2-40B4-BE49-F238E27FC236}">
                <a16:creationId xmlns:a16="http://schemas.microsoft.com/office/drawing/2014/main" id="{7C6AAB94-E4DA-3A25-1606-C8EDEB353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614" y="2605315"/>
            <a:ext cx="4212771" cy="421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6566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​​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079_TF22378848.potx" id="{F62FB227-606A-4DCF-9454-C7C2A6DCEDA3}" vid="{FF5F72B6-EF16-44B6-9476-2E94BA64039B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积分​​</Template>
  <TotalTime>3740</TotalTime>
  <Words>568</Words>
  <Application>Microsoft Office PowerPoint</Application>
  <PresentationFormat>宽屏</PresentationFormat>
  <Paragraphs>70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Microsoft YaHei UI</vt:lpstr>
      <vt:lpstr>等线</vt:lpstr>
      <vt:lpstr>等线 Light</vt:lpstr>
      <vt:lpstr>Arial</vt:lpstr>
      <vt:lpstr>Times New Roman</vt:lpstr>
      <vt:lpstr>Tw Cen MT</vt:lpstr>
      <vt:lpstr>Wingdings</vt:lpstr>
      <vt:lpstr>Wingdings 3</vt:lpstr>
      <vt:lpstr>积分​​</vt:lpstr>
      <vt:lpstr>自定义设计方案</vt:lpstr>
      <vt:lpstr>Fine-Grained Bird Species Classification with CNNs &amp; Transformers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Fan, Renjie</dc:creator>
  <cp:lastModifiedBy>坤 杨</cp:lastModifiedBy>
  <cp:revision>15</cp:revision>
  <dcterms:created xsi:type="dcterms:W3CDTF">2025-04-26T20:00:27Z</dcterms:created>
  <dcterms:modified xsi:type="dcterms:W3CDTF">2025-05-03T01:34:32Z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